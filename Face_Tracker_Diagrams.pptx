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Intelligent Face Tracker: seven diagrams covering architecture, main loop, track lifecycle, identity decision, database schema, runtime and consolidation.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 from video source to logs and database. Registry and galleries are reloaded from PostgreSQL on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main.py: setup, per-frame loop, and the finally-block shutdown that guarantees no EXIT is lost.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ByteTrack ID yields exactly one ENTRY and one EXIT. Labels in mono are the events.log tags.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events._identify / _best_match. Every sighting is compared with all stored visitors using ArcFace (face) and OSNet (body) cosine similarity.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PostgreSQL 16, database facetracker. Created by db.py SCHEMA on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and tracker share PostgreSQL and the logs/ folder; files are written atomically so the dashboard never reads half a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consolidate.py merges duplicate visitors after the stream ends. Hard rule: people on screen together are never merged.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7602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800" spc="144" kern="0" dirty="0">
                <a:solidFill>
                  <a:srgbClr val="6763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FACE TRACKER · SYSTEM DIAGRAMS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14500"/>
            <a:ext cx="14716125" cy="3069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62"/>
              </a:lnSpc>
              <a:buNone/>
            </a:pPr>
            <a:r>
              <a:rPr lang="en-US" sz="7800" b="1" spc="-195" kern="0" dirty="0">
                <a:solidFill>
                  <a:srgbClr val="1E1A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Intelligent Face Tracker with auto-registration &amp; unique visitor counting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1143000" y="5088493"/>
            <a:ext cx="146685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75"/>
              </a:lnSpc>
              <a:buNone/>
            </a:pPr>
            <a:r>
              <a:rPr lang="en-US" sz="2250" dirty="0">
                <a:solidFill>
                  <a:srgbClr val="514C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YOLOv8 detection · ByteTrack · ArcFace + OSNet re-ID · PostgreSQL logging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143000" y="7864793"/>
            <a:ext cx="16002000" cy="9525"/>
          </a:xfrm>
          <a:prstGeom prst="rect">
            <a:avLst/>
          </a:prstGeom>
          <a:solidFill>
            <a:srgbClr val="36322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8261032"/>
            <a:ext cx="350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800" b="1" dirty="0">
                <a:solidFill>
                  <a:srgbClr val="6763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0670" y="8215313"/>
            <a:ext cx="250936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26"/>
              </a:lnSpc>
              <a:buNone/>
            </a:pPr>
            <a:r>
              <a:rPr lang="en-US" sz="1950" dirty="0">
                <a:solidFill>
                  <a:srgbClr val="1E1A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architecture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238750" y="8261032"/>
            <a:ext cx="350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800" b="1" dirty="0">
                <a:solidFill>
                  <a:srgbClr val="6763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46420" y="8215313"/>
            <a:ext cx="246365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26"/>
              </a:lnSpc>
              <a:buNone/>
            </a:pPr>
            <a:r>
              <a:rPr lang="en-US" sz="1950" dirty="0">
                <a:solidFill>
                  <a:srgbClr val="1E1A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 loop flowchart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334500" y="8261032"/>
            <a:ext cx="350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800" b="1" dirty="0">
                <a:solidFill>
                  <a:srgbClr val="6763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42170" y="8215313"/>
            <a:ext cx="361264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26"/>
              </a:lnSpc>
              <a:buNone/>
            </a:pPr>
            <a:r>
              <a:rPr lang="en-US" sz="1950" dirty="0">
                <a:solidFill>
                  <a:srgbClr val="1E1A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 lifecycle state machine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430250" y="8261032"/>
            <a:ext cx="350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800" b="1" dirty="0">
                <a:solidFill>
                  <a:srgbClr val="6763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837920" y="8215313"/>
            <a:ext cx="340629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26"/>
              </a:lnSpc>
              <a:buNone/>
            </a:pPr>
            <a:r>
              <a:rPr lang="en-US" sz="1950" dirty="0">
                <a:solidFill>
                  <a:srgbClr val="1E1A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Identity decision: new or returning visitor?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43000" y="9070657"/>
            <a:ext cx="350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800" b="1" dirty="0">
                <a:solidFill>
                  <a:srgbClr val="6763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0670" y="9024938"/>
            <a:ext cx="280417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26"/>
              </a:lnSpc>
              <a:buNone/>
            </a:pPr>
            <a:r>
              <a:rPr lang="en-US" sz="1950" dirty="0">
                <a:solidFill>
                  <a:srgbClr val="1E1A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Database schema (ER)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238750" y="9070657"/>
            <a:ext cx="350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800" b="1" dirty="0">
                <a:solidFill>
                  <a:srgbClr val="6763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646420" y="9024938"/>
            <a:ext cx="286991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26"/>
              </a:lnSpc>
              <a:buNone/>
            </a:pPr>
            <a:r>
              <a:rPr lang="en-US" sz="1950" dirty="0">
                <a:solidFill>
                  <a:srgbClr val="1E1A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Runtime &amp; deployment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334500" y="9070657"/>
            <a:ext cx="350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800" b="1" dirty="0">
                <a:solidFill>
                  <a:srgbClr val="6763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42170" y="9024938"/>
            <a:ext cx="310932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26"/>
              </a:lnSpc>
              <a:buNone/>
            </a:pPr>
            <a:r>
              <a:rPr lang="en-US" sz="1950" dirty="0">
                <a:solidFill>
                  <a:srgbClr val="1E1A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End-of-run consolidation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502920" cy="419100"/>
          </a:xfrm>
          <a:prstGeom prst="roundRect">
            <a:avLst>
              <a:gd name="adj" fmla="val 13636"/>
            </a:avLst>
          </a:prstGeom>
          <a:solidFill>
            <a:srgbClr val="27231E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704850"/>
            <a:ext cx="350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800" b="1" dirty="0">
                <a:solidFill>
                  <a:srgbClr val="F7F5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3520" y="609600"/>
            <a:ext cx="12521530" cy="55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294"/>
              </a:lnSpc>
              <a:buNone/>
            </a:pPr>
            <a:r>
              <a:rPr lang="en-US" sz="3900" b="1" spc="-58" kern="0" dirty="0">
                <a:solidFill>
                  <a:srgbClr val="1E1A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architecture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493520" y="1224915"/>
            <a:ext cx="125215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1800" dirty="0">
                <a:solidFill>
                  <a:srgbClr val="514C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flow from video source to logs and database. Registry and galleries are reloaded from PostgreSQL on start.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1849755"/>
            <a:ext cx="16764000" cy="7827645"/>
          </a:xfrm>
          <a:prstGeom prst="roundRect">
            <a:avLst>
              <a:gd name="adj" fmla="val 1460"/>
            </a:avLst>
          </a:prstGeom>
          <a:solidFill>
            <a:srgbClr val="FEFDFB"/>
          </a:solidFill>
          <a:ln w="7620">
            <a:solidFill>
              <a:srgbClr val="D7D4C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20" y="2310765"/>
            <a:ext cx="16748760" cy="69056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502920" cy="419100"/>
          </a:xfrm>
          <a:prstGeom prst="roundRect">
            <a:avLst>
              <a:gd name="adj" fmla="val 13636"/>
            </a:avLst>
          </a:prstGeom>
          <a:solidFill>
            <a:srgbClr val="27231E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704850"/>
            <a:ext cx="350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800" b="1" dirty="0">
                <a:solidFill>
                  <a:srgbClr val="F7F5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3520" y="609600"/>
            <a:ext cx="10653653" cy="55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294"/>
              </a:lnSpc>
              <a:buNone/>
            </a:pPr>
            <a:r>
              <a:rPr lang="en-US" sz="3900" b="1" spc="-58" kern="0" dirty="0">
                <a:solidFill>
                  <a:srgbClr val="1E1A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 loop flowchart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493520" y="1224915"/>
            <a:ext cx="1065365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1800" dirty="0">
                <a:solidFill>
                  <a:srgbClr val="514C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main.py: setup, per-frame loop, and the finally-block shutdown that guarantees no EXIT is lost.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1849755"/>
            <a:ext cx="16764000" cy="7827645"/>
          </a:xfrm>
          <a:prstGeom prst="roundRect">
            <a:avLst>
              <a:gd name="adj" fmla="val 1460"/>
            </a:avLst>
          </a:prstGeom>
          <a:solidFill>
            <a:srgbClr val="FEFDFB"/>
          </a:solidFill>
          <a:ln w="7620">
            <a:solidFill>
              <a:srgbClr val="D7D4C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650" y="2096453"/>
            <a:ext cx="10172700" cy="7334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502920" cy="419100"/>
          </a:xfrm>
          <a:prstGeom prst="roundRect">
            <a:avLst>
              <a:gd name="adj" fmla="val 13636"/>
            </a:avLst>
          </a:prstGeom>
          <a:solidFill>
            <a:srgbClr val="27231E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704850"/>
            <a:ext cx="350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800" b="1" dirty="0">
                <a:solidFill>
                  <a:srgbClr val="F7F5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3520" y="609600"/>
            <a:ext cx="10994696" cy="55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294"/>
              </a:lnSpc>
              <a:buNone/>
            </a:pPr>
            <a:r>
              <a:rPr lang="en-US" sz="3900" b="1" spc="-58" kern="0" dirty="0">
                <a:solidFill>
                  <a:srgbClr val="1E1A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 lifecycle state machine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493520" y="1224915"/>
            <a:ext cx="1099469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1800" dirty="0">
                <a:solidFill>
                  <a:srgbClr val="514C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ByteTrack ID yields exactly one ENTRY and one EXIT. Labels in mono are the events.log tags.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1849755"/>
            <a:ext cx="16764000" cy="7827645"/>
          </a:xfrm>
          <a:prstGeom prst="roundRect">
            <a:avLst>
              <a:gd name="adj" fmla="val 1460"/>
            </a:avLst>
          </a:prstGeom>
          <a:solidFill>
            <a:srgbClr val="FEFDFB"/>
          </a:solidFill>
          <a:ln w="7620">
            <a:solidFill>
              <a:srgbClr val="D7D4C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2096453"/>
            <a:ext cx="15716250" cy="7334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502920" cy="419100"/>
          </a:xfrm>
          <a:prstGeom prst="roundRect">
            <a:avLst>
              <a:gd name="adj" fmla="val 13636"/>
            </a:avLst>
          </a:prstGeom>
          <a:solidFill>
            <a:srgbClr val="27231E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704850"/>
            <a:ext cx="350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800" b="1" dirty="0">
                <a:solidFill>
                  <a:srgbClr val="F7F5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3520" y="609600"/>
            <a:ext cx="15527917" cy="55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294"/>
              </a:lnSpc>
              <a:buNone/>
            </a:pPr>
            <a:r>
              <a:rPr lang="en-US" sz="3900" b="1" spc="-58" kern="0" dirty="0">
                <a:solidFill>
                  <a:srgbClr val="1E1A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Identity decision: new or returning visitor?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493520" y="1224915"/>
            <a:ext cx="1552791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1800" dirty="0">
                <a:solidFill>
                  <a:srgbClr val="514C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events._identify / _best_match. Every sighting is compared with all stored visitors using ArcFace (face) and OSNet (body) cosine similarity.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1849755"/>
            <a:ext cx="16764000" cy="7827645"/>
          </a:xfrm>
          <a:prstGeom prst="roundRect">
            <a:avLst>
              <a:gd name="adj" fmla="val 1460"/>
            </a:avLst>
          </a:prstGeom>
          <a:solidFill>
            <a:srgbClr val="FEFDFB"/>
          </a:solidFill>
          <a:ln w="7620">
            <a:solidFill>
              <a:srgbClr val="D7D4C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4263" y="2096453"/>
            <a:ext cx="11039475" cy="7334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502920" cy="419100"/>
          </a:xfrm>
          <a:prstGeom prst="roundRect">
            <a:avLst>
              <a:gd name="adj" fmla="val 13636"/>
            </a:avLst>
          </a:prstGeom>
          <a:solidFill>
            <a:srgbClr val="27231E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704850"/>
            <a:ext cx="350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800" b="1" dirty="0">
                <a:solidFill>
                  <a:srgbClr val="F7F5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3520" y="609600"/>
            <a:ext cx="8232303" cy="55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294"/>
              </a:lnSpc>
              <a:buNone/>
            </a:pPr>
            <a:r>
              <a:rPr lang="en-US" sz="3900" b="1" spc="-58" kern="0" dirty="0">
                <a:solidFill>
                  <a:srgbClr val="1E1A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Database schema (ER)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493520" y="1224915"/>
            <a:ext cx="823230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1800" dirty="0">
                <a:solidFill>
                  <a:srgbClr val="514C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PostgreSQL 16, database facetracker. Created by db.py SCHEMA on start.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1849755"/>
            <a:ext cx="16764000" cy="7827645"/>
          </a:xfrm>
          <a:prstGeom prst="roundRect">
            <a:avLst>
              <a:gd name="adj" fmla="val 1460"/>
            </a:avLst>
          </a:prstGeom>
          <a:solidFill>
            <a:srgbClr val="FEFDFB"/>
          </a:solidFill>
          <a:ln w="7620">
            <a:solidFill>
              <a:srgbClr val="D7D4C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688" y="2667953"/>
            <a:ext cx="16430625" cy="6191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502920" cy="419100"/>
          </a:xfrm>
          <a:prstGeom prst="roundRect">
            <a:avLst>
              <a:gd name="adj" fmla="val 13636"/>
            </a:avLst>
          </a:prstGeom>
          <a:solidFill>
            <a:srgbClr val="27231E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704850"/>
            <a:ext cx="350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800" b="1" dirty="0">
                <a:solidFill>
                  <a:srgbClr val="F7F5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3520" y="609600"/>
            <a:ext cx="14848059" cy="55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294"/>
              </a:lnSpc>
              <a:buNone/>
            </a:pPr>
            <a:r>
              <a:rPr lang="en-US" sz="3900" b="1" spc="-58" kern="0" dirty="0">
                <a:solidFill>
                  <a:srgbClr val="1E1A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Runtime &amp; deployment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493520" y="1224915"/>
            <a:ext cx="1484805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1800" dirty="0">
                <a:solidFill>
                  <a:srgbClr val="514C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 and tracker share PostgreSQL and the logs/ folder; files are written atomically so the dashboard never reads half a frame.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1849755"/>
            <a:ext cx="16764000" cy="7827645"/>
          </a:xfrm>
          <a:prstGeom prst="roundRect">
            <a:avLst>
              <a:gd name="adj" fmla="val 1460"/>
            </a:avLst>
          </a:prstGeom>
          <a:solidFill>
            <a:srgbClr val="FEFDFB"/>
          </a:solidFill>
          <a:ln w="7620">
            <a:solidFill>
              <a:srgbClr val="D7D4C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20" y="2820353"/>
            <a:ext cx="16748760" cy="5886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502920" cy="419100"/>
          </a:xfrm>
          <a:prstGeom prst="roundRect">
            <a:avLst>
              <a:gd name="adj" fmla="val 13636"/>
            </a:avLst>
          </a:prstGeom>
          <a:solidFill>
            <a:srgbClr val="27231E"/>
          </a:solidFill>
          <a:ln/>
        </p:spPr>
      </p:sp>
      <p:sp>
        <p:nvSpPr>
          <p:cNvPr id="3" name="Text 1"/>
          <p:cNvSpPr/>
          <p:nvPr/>
        </p:nvSpPr>
        <p:spPr>
          <a:xfrm>
            <a:off x="876300" y="704850"/>
            <a:ext cx="350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923"/>
              </a:lnSpc>
              <a:buNone/>
            </a:pPr>
            <a:r>
              <a:rPr lang="en-US" sz="1800" b="1" dirty="0">
                <a:solidFill>
                  <a:srgbClr val="F7F5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3520" y="609600"/>
            <a:ext cx="13368635" cy="55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294"/>
              </a:lnSpc>
              <a:buNone/>
            </a:pPr>
            <a:r>
              <a:rPr lang="en-US" sz="3900" b="1" spc="-58" kern="0" dirty="0">
                <a:solidFill>
                  <a:srgbClr val="1E1A1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End-of-run consolidation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493520" y="1224915"/>
            <a:ext cx="1336863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1800" dirty="0">
                <a:solidFill>
                  <a:srgbClr val="514C4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consolidate.py merges duplicate visitors after the stream ends. Hard rule: people on screen together are never merged.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1849755"/>
            <a:ext cx="16764000" cy="7827645"/>
          </a:xfrm>
          <a:prstGeom prst="roundRect">
            <a:avLst>
              <a:gd name="adj" fmla="val 1460"/>
            </a:avLst>
          </a:prstGeom>
          <a:solidFill>
            <a:srgbClr val="FEFDFB"/>
          </a:solidFill>
          <a:ln w="7620">
            <a:solidFill>
              <a:srgbClr val="D7D4C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20" y="3353753"/>
            <a:ext cx="16748760" cy="4819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2026-10-17T05:24:24Z</dcterms:created>
  <dcterms:modified xsi:type="dcterms:W3CDTF">2026-10-17T05:24:24Z</dcterms:modified>
</cp:coreProperties>
</file>